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7" r:id="rId2"/>
    <p:sldId id="297" r:id="rId3"/>
    <p:sldId id="289" r:id="rId4"/>
    <p:sldId id="296" r:id="rId5"/>
    <p:sldId id="299" r:id="rId6"/>
    <p:sldId id="294" r:id="rId7"/>
    <p:sldId id="303" r:id="rId8"/>
    <p:sldId id="295" r:id="rId9"/>
    <p:sldId id="293" r:id="rId10"/>
    <p:sldId id="300" r:id="rId11"/>
    <p:sldId id="302" r:id="rId12"/>
    <p:sldId id="298" r:id="rId13"/>
    <p:sldId id="304" r:id="rId14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D9B7C6-9D6E-A539-E135-AF34830671C4}" v="3" dt="2024-11-17T16:55:57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64"/>
    <p:restoredTop sz="72437"/>
  </p:normalViewPr>
  <p:slideViewPr>
    <p:cSldViewPr snapToGrid="0">
      <p:cViewPr varScale="1">
        <p:scale>
          <a:sx n="93" d="100"/>
          <a:sy n="93" d="100"/>
        </p:scale>
        <p:origin x="4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4F2D1-31EF-4248-AB89-D0F913AA28EE}" type="datetimeFigureOut">
              <a:rPr lang="en-ES" smtClean="0"/>
              <a:t>11/17/2024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CB9DE-ABEF-D646-AF45-4296BAE0186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154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904347845d_1_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" name="Google Shape;80;g904347845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9086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3974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0330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096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8522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17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448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4754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3628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9665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3041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1cacf159_0_4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371cacf1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72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AI_header" type="title">
  <p:cSld name="HPAI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3534800"/>
            <a:ext cx="12192000" cy="3323200"/>
          </a:xfrm>
          <a:prstGeom prst="rect">
            <a:avLst/>
          </a:prstGeom>
          <a:solidFill>
            <a:srgbClr val="03337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47833" y="1368633"/>
            <a:ext cx="10911600" cy="196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647833" y="3638233"/>
            <a:ext cx="10911600" cy="11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aleway"/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pic>
        <p:nvPicPr>
          <p:cNvPr id="22" name="Google Shape;2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7253" y="289310"/>
            <a:ext cx="3301499" cy="69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138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AI Section header" type="secHead">
  <p:cSld name="HPAI 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0" y="3534800"/>
            <a:ext cx="12192000" cy="3323200"/>
          </a:xfrm>
          <a:prstGeom prst="rect">
            <a:avLst/>
          </a:prstGeom>
          <a:solidFill>
            <a:srgbClr val="03337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47833" y="2286000"/>
            <a:ext cx="10911600" cy="10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93601" y="454234"/>
            <a:ext cx="2425700" cy="605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2534" y="278585"/>
            <a:ext cx="1510093" cy="95667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647833" y="3638233"/>
            <a:ext cx="10911600" cy="11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aleway"/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4630" y="410315"/>
            <a:ext cx="3301499" cy="69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2336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AI Content" type="tx">
  <p:cSld name="HPAI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12192000" cy="1221200"/>
          </a:xfrm>
          <a:prstGeom prst="rect">
            <a:avLst/>
          </a:prstGeom>
          <a:solidFill>
            <a:srgbClr val="03337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❖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57189">
              <a:spcBef>
                <a:spcPts val="2133"/>
              </a:spcBef>
              <a:spcAft>
                <a:spcPts val="0"/>
              </a:spcAft>
              <a:buSzPts val="18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40256">
              <a:spcBef>
                <a:spcPts val="2133"/>
              </a:spcBef>
              <a:spcAft>
                <a:spcPts val="0"/>
              </a:spcAft>
              <a:buSzPts val="1600"/>
              <a:buFont typeface="Montserrat"/>
              <a:buChar char="○"/>
              <a:defRPr sz="2133"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◆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➢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Char char="◆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2"/>
          </p:nvPr>
        </p:nvSpPr>
        <p:spPr>
          <a:xfrm>
            <a:off x="6003733" y="6275600"/>
            <a:ext cx="1373600" cy="5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rgbClr val="03337B"/>
              </a:buClr>
              <a:buSzPts val="1400"/>
              <a:buChar char="❖"/>
              <a:defRPr sz="1867">
                <a:solidFill>
                  <a:srgbClr val="03337B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➢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◆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➢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◆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603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AI Content 1">
  <p:cSld name="HPAI Content 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0" y="0"/>
            <a:ext cx="12192000" cy="1221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57189" rtl="0">
              <a:spcBef>
                <a:spcPts val="2133"/>
              </a:spcBef>
              <a:spcAft>
                <a:spcPts val="0"/>
              </a:spcAft>
              <a:buClr>
                <a:srgbClr val="6D9EEB"/>
              </a:buClr>
              <a:buSzPts val="18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Clr>
                <a:srgbClr val="6D9EEB"/>
              </a:buClr>
              <a:buSzPts val="1600"/>
              <a:buFont typeface="Montserrat"/>
              <a:buChar char="●"/>
              <a:defRPr sz="2133"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rgbClr val="6D9EEB"/>
              </a:buClr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rgbClr val="6D9EEB"/>
              </a:buClr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541" y="6308683"/>
            <a:ext cx="1754521" cy="393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264" y="6194634"/>
            <a:ext cx="1092283" cy="62116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3158933" y="6275600"/>
            <a:ext cx="1373600" cy="5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rgbClr val="03337B"/>
              </a:buClr>
              <a:buSzPts val="1400"/>
              <a:buChar char="❖"/>
              <a:defRPr sz="1867">
                <a:solidFill>
                  <a:srgbClr val="03337B"/>
                </a:solidFill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➢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◆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➢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◆"/>
              <a:defRPr/>
            </a:lvl9pPr>
          </a:lstStyle>
          <a:p>
            <a:endParaRPr/>
          </a:p>
        </p:txBody>
      </p:sp>
      <p:pic>
        <p:nvPicPr>
          <p:cNvPr id="45" name="Google Shape;4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8833" y="6249400"/>
            <a:ext cx="2385163" cy="50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6743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Google Shape;48;p6"/>
          <p:cNvSpPr/>
          <p:nvPr/>
        </p:nvSpPr>
        <p:spPr>
          <a:xfrm>
            <a:off x="0" y="0"/>
            <a:ext cx="12192000" cy="1221200"/>
          </a:xfrm>
          <a:prstGeom prst="rect">
            <a:avLst/>
          </a:prstGeom>
          <a:solidFill>
            <a:srgbClr val="03337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305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03337B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110072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0" y="0"/>
            <a:ext cx="5988400" cy="6858000"/>
          </a:xfrm>
          <a:prstGeom prst="rect">
            <a:avLst/>
          </a:prstGeom>
          <a:solidFill>
            <a:srgbClr val="03337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55" name="Google Shape;55;p8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354000" y="1575600"/>
            <a:ext cx="5393600" cy="204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5067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5067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5067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5067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5067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5067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5067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5067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50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rgbClr val="03337B"/>
              </a:buClr>
              <a:buSzPts val="1800"/>
              <a:buChar char="❖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rgbClr val="03337B"/>
              </a:buClr>
              <a:buSzPts val="1400"/>
              <a:buChar char="➢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rgbClr val="03337B"/>
              </a:buClr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rgbClr val="03337B"/>
              </a:buClr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◆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➢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◆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66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6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0" y="3534800"/>
            <a:ext cx="12192000" cy="3323200"/>
          </a:xfrm>
          <a:prstGeom prst="rect">
            <a:avLst/>
          </a:prstGeom>
          <a:solidFill>
            <a:srgbClr val="03337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0"/>
          <p:cNvSpPr txBox="1">
            <a:spLocks noGrp="1"/>
          </p:cNvSpPr>
          <p:nvPr>
            <p:ph type="title" hasCustomPrompt="1"/>
          </p:nvPr>
        </p:nvSpPr>
        <p:spPr>
          <a:xfrm>
            <a:off x="415600" y="990668"/>
            <a:ext cx="11360800" cy="267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6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415600" y="3793576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>
                <a:solidFill>
                  <a:schemeClr val="lt1"/>
                </a:solidFill>
              </a:defRPr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➢"/>
              <a:defRPr>
                <a:solidFill>
                  <a:schemeClr val="lt1"/>
                </a:solidFill>
              </a:defRPr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◆"/>
              <a:defRPr>
                <a:solidFill>
                  <a:schemeClr val="lt1"/>
                </a:solidFill>
              </a:defRPr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➢"/>
              <a:defRPr>
                <a:solidFill>
                  <a:schemeClr val="lt1"/>
                </a:solidFill>
              </a:defRPr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◆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38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Title Content and 2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>
            <a:off x="4061857" y="0"/>
            <a:ext cx="81308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>
            <a:off x="609639" y="1604520"/>
            <a:ext cx="5354400" cy="39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marL="1219170" lvl="1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2pPr>
            <a:lvl3pPr marL="1828754" lvl="2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3pPr>
            <a:lvl4pPr marL="2438339" lvl="3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4pPr>
            <a:lvl5pPr marL="3047924" lvl="4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5pPr>
            <a:lvl6pPr marL="3657509" lvl="5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6pPr>
            <a:lvl7pPr marL="4267093" lvl="6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7pPr>
            <a:lvl8pPr marL="4876678" lvl="7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8pPr>
            <a:lvl9pPr marL="5486263" lvl="8" indent="-304792" algn="l" rtl="0">
              <a:spcBef>
                <a:spcPts val="2133"/>
              </a:spcBef>
              <a:spcAft>
                <a:spcPts val="2133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body" idx="2"/>
          </p:nvPr>
        </p:nvSpPr>
        <p:spPr>
          <a:xfrm>
            <a:off x="6232503" y="1604520"/>
            <a:ext cx="5354400" cy="18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marL="1219170" lvl="1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2pPr>
            <a:lvl3pPr marL="1828754" lvl="2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3pPr>
            <a:lvl4pPr marL="2438339" lvl="3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4pPr>
            <a:lvl5pPr marL="3047924" lvl="4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5pPr>
            <a:lvl6pPr marL="3657509" lvl="5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6pPr>
            <a:lvl7pPr marL="4267093" lvl="6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7pPr>
            <a:lvl8pPr marL="4876678" lvl="7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8pPr>
            <a:lvl9pPr marL="5486263" lvl="8" indent="-304792" algn="l" rtl="0">
              <a:spcBef>
                <a:spcPts val="2133"/>
              </a:spcBef>
              <a:spcAft>
                <a:spcPts val="2133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3"/>
          </p:nvPr>
        </p:nvSpPr>
        <p:spPr>
          <a:xfrm>
            <a:off x="6232503" y="3682080"/>
            <a:ext cx="5354400" cy="18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marL="1219170" lvl="1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2pPr>
            <a:lvl3pPr marL="1828754" lvl="2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3pPr>
            <a:lvl4pPr marL="2438339" lvl="3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4pPr>
            <a:lvl5pPr marL="3047924" lvl="4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5pPr>
            <a:lvl6pPr marL="3657509" lvl="5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6pPr>
            <a:lvl7pPr marL="4267093" lvl="6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7pPr>
            <a:lvl8pPr marL="4876678" lvl="7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8pPr>
            <a:lvl9pPr marL="5486263" lvl="8" indent="-304792" algn="l" rtl="0">
              <a:spcBef>
                <a:spcPts val="2133"/>
              </a:spcBef>
              <a:spcAft>
                <a:spcPts val="2133"/>
              </a:spcAft>
              <a:buSzPts val="1100"/>
              <a:buNone/>
              <a:defRPr sz="1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6202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4061857" y="0"/>
            <a:ext cx="81308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>
            <a:off x="609639" y="1604520"/>
            <a:ext cx="10973200" cy="39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marL="1219170" lvl="1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2pPr>
            <a:lvl3pPr marL="1828754" lvl="2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3pPr>
            <a:lvl4pPr marL="2438339" lvl="3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4pPr>
            <a:lvl5pPr marL="3047924" lvl="4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5pPr>
            <a:lvl6pPr marL="3657509" lvl="5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6pPr>
            <a:lvl7pPr marL="4267093" lvl="6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7pPr>
            <a:lvl8pPr marL="4876678" lvl="7" indent="-304792" algn="l" rtl="0">
              <a:spcBef>
                <a:spcPts val="2133"/>
              </a:spcBef>
              <a:spcAft>
                <a:spcPts val="0"/>
              </a:spcAft>
              <a:buSzPts val="1100"/>
              <a:buNone/>
              <a:defRPr sz="1467"/>
            </a:lvl8pPr>
            <a:lvl9pPr marL="5486263" lvl="8" indent="-304792" algn="l" rtl="0">
              <a:spcBef>
                <a:spcPts val="2133"/>
              </a:spcBef>
              <a:spcAft>
                <a:spcPts val="2133"/>
              </a:spcAft>
              <a:buSzPts val="1100"/>
              <a:buNone/>
              <a:defRPr sz="1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1562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15600" y="390167"/>
            <a:ext cx="11360800" cy="8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337B"/>
              </a:buClr>
              <a:buSzPts val="1800"/>
              <a:buFont typeface="Source Sans Pro"/>
              <a:buChar char="❖"/>
              <a:defRPr sz="18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3337B"/>
              </a:buClr>
              <a:buSzPts val="1400"/>
              <a:buFont typeface="Source Sans Pro"/>
              <a:buChar char="➢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3337B"/>
              </a:buClr>
              <a:buSzPts val="1400"/>
              <a:buFont typeface="Source Sans Pro"/>
              <a:buChar char="■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3337B"/>
              </a:buClr>
              <a:buSzPts val="1400"/>
              <a:buFont typeface="Source Sans Pro"/>
              <a:buChar char="●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3337B"/>
              </a:buClr>
              <a:buSzPts val="1400"/>
              <a:buFont typeface="Source Sans Pro"/>
              <a:buChar char="◆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Source Sans Pro"/>
              <a:buChar char="➢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Source Sans Pro"/>
              <a:buChar char="■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Source Sans Pro"/>
              <a:buChar char="●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Source Sans Pro"/>
              <a:buChar char="◆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782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/>
        </p:nvSpPr>
        <p:spPr>
          <a:xfrm>
            <a:off x="11753461" y="6472800"/>
            <a:ext cx="438955" cy="33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2400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8063344" y="5320400"/>
            <a:ext cx="4128655" cy="8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Jordi </a:t>
            </a:r>
            <a:r>
              <a:rPr lang="en-US" sz="2400" kern="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Luque</a:t>
            </a:r>
            <a:endParaRPr sz="2400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2400" i="1" kern="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jordi.luque.serrano@upc.edu</a:t>
            </a:r>
            <a:endParaRPr sz="2400" i="1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/>
          <p:cNvSpPr txBox="1">
            <a:spLocks noGrp="1"/>
          </p:cNvSpPr>
          <p:nvPr>
            <p:ph type="ctrTitle"/>
          </p:nvPr>
        </p:nvSpPr>
        <p:spPr>
          <a:xfrm>
            <a:off x="647833" y="1368633"/>
            <a:ext cx="10911600" cy="196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dirty="0"/>
              <a:t>GIA - IAA</a:t>
            </a:r>
            <a:endParaRPr dirty="0"/>
          </a:p>
          <a:p>
            <a:r>
              <a:rPr lang="en-US" sz="5200" dirty="0" err="1"/>
              <a:t>Introducció</a:t>
            </a:r>
            <a:r>
              <a:rPr lang="en-US" sz="5200" dirty="0"/>
              <a:t> a </a:t>
            </a:r>
            <a:br>
              <a:rPr lang="en-US" sz="5200" dirty="0"/>
            </a:br>
            <a:r>
              <a:rPr lang="en-US" sz="5200" dirty="0" err="1"/>
              <a:t>l’Aprenentatge</a:t>
            </a:r>
            <a:r>
              <a:rPr lang="en-US" sz="5200" dirty="0"/>
              <a:t> </a:t>
            </a:r>
            <a:r>
              <a:rPr lang="en-US" sz="5200" dirty="0" err="1"/>
              <a:t>Automàtic</a:t>
            </a:r>
            <a:endParaRPr sz="5200" dirty="0"/>
          </a:p>
        </p:txBody>
      </p:sp>
      <p:sp>
        <p:nvSpPr>
          <p:cNvPr id="5" name="Google Shape;110;p17">
            <a:extLst>
              <a:ext uri="{FF2B5EF4-FFF2-40B4-BE49-F238E27FC236}">
                <a16:creationId xmlns:a16="http://schemas.microsoft.com/office/drawing/2014/main" id="{14CC04DE-8B9F-BB15-3D13-AB7F20D381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7126" y="3896416"/>
            <a:ext cx="9404291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/>
              <a:t>8. Lab: Clustering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lang="en-E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en-US" dirty="0"/>
              <a:t>Clustering vs Classification</a:t>
            </a:r>
            <a:endParaRPr dirty="0"/>
          </a:p>
          <a:p>
            <a:pPr>
              <a:buClr>
                <a:schemeClr val="dk2"/>
              </a:buClr>
              <a:buSzPts val="1100"/>
            </a:pPr>
            <a:endParaRPr dirty="0"/>
          </a:p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9C24F0-29F8-CAF0-D017-452DD52FD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241" y="2234183"/>
            <a:ext cx="77724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8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en-US" dirty="0"/>
              <a:t>Clustering</a:t>
            </a:r>
            <a:endParaRPr dirty="0"/>
          </a:p>
          <a:p>
            <a:pPr>
              <a:buClr>
                <a:schemeClr val="dk2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4" name="Google Shape;119;p18">
            <a:extLst>
              <a:ext uri="{FF2B5EF4-FFF2-40B4-BE49-F238E27FC236}">
                <a16:creationId xmlns:a16="http://schemas.microsoft.com/office/drawing/2014/main" id="{815894C5-7E10-F8AD-FB56-A620FF8750EA}"/>
              </a:ext>
            </a:extLst>
          </p:cNvPr>
          <p:cNvSpPr txBox="1">
            <a:spLocks/>
          </p:cNvSpPr>
          <p:nvPr/>
        </p:nvSpPr>
        <p:spPr>
          <a:xfrm>
            <a:off x="0" y="1296257"/>
            <a:ext cx="5238146" cy="1993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337B"/>
              </a:buClr>
              <a:buSzPts val="1800"/>
              <a:buFont typeface="Montserrat"/>
              <a:buChar char="❖"/>
              <a:defRPr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3337B"/>
              </a:buClr>
              <a:buSzPts val="1800"/>
              <a:buFont typeface="Montserrat"/>
              <a:buChar char="■"/>
              <a:defRPr sz="2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40256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3337B"/>
              </a:buClr>
              <a:buSzPts val="1600"/>
              <a:buFont typeface="Montserrat"/>
              <a:buChar char="○"/>
              <a:defRPr sz="2133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3337B"/>
              </a:buClr>
              <a:buSzPts val="1400"/>
              <a:buFont typeface="Montserrat"/>
              <a:buChar char="●"/>
              <a:defRPr sz="186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3337B"/>
              </a:buClr>
              <a:buSzPts val="1400"/>
              <a:buFont typeface="Montserrat"/>
              <a:buChar char="◆"/>
              <a:defRPr sz="186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➢"/>
              <a:defRPr sz="186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86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86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Char char="◆"/>
              <a:defRPr sz="186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>
              <a:lnSpc>
                <a:spcPct val="150000"/>
              </a:lnSpc>
              <a:buFont typeface="Montserrat"/>
              <a:buNone/>
            </a:pPr>
            <a:endParaRPr lang="en-GB" kern="0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There are 4 major categories of clustering algorithms:</a:t>
            </a:r>
          </a:p>
          <a:p>
            <a:pPr lvl="1">
              <a:buFont typeface="+mj-lt"/>
              <a:buAutoNum type="arabicPeriod"/>
            </a:pPr>
            <a:r>
              <a:rPr lang="en-GB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Centroid-based Clustering</a:t>
            </a:r>
          </a:p>
          <a:p>
            <a:pPr lvl="1">
              <a:buFont typeface="+mj-lt"/>
              <a:buAutoNum type="arabicPeriod"/>
            </a:pPr>
            <a:r>
              <a:rPr lang="en-GB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Density-based Clustering</a:t>
            </a:r>
          </a:p>
          <a:p>
            <a:pPr lvl="1">
              <a:buFont typeface="+mj-lt"/>
              <a:buAutoNum type="arabicPeriod"/>
            </a:pPr>
            <a:r>
              <a:rPr lang="en-GB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Distribution-based Clustering</a:t>
            </a:r>
          </a:p>
          <a:p>
            <a:pPr lvl="1">
              <a:buFont typeface="+mj-lt"/>
              <a:buAutoNum type="arabicPeriod"/>
            </a:pPr>
            <a:r>
              <a:rPr lang="en-GB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Hierarchical Clustering</a:t>
            </a:r>
          </a:p>
          <a:p>
            <a:pPr marL="152396" indent="0">
              <a:buFont typeface="Montserrat"/>
              <a:buNone/>
            </a:pPr>
            <a:br>
              <a:rPr lang="en-GB" kern="0" dirty="0">
                <a:solidFill>
                  <a:srgbClr val="3B3B3B"/>
                </a:solidFill>
                <a:latin typeface="Menlo" panose="020B0609030804020204" pitchFamily="49" charset="0"/>
              </a:rPr>
            </a:br>
            <a:endParaRPr lang="en-GB" kern="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endParaRPr lang="en-GB" kern="0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 indent="0">
              <a:lnSpc>
                <a:spcPct val="150000"/>
              </a:lnSpc>
              <a:buFont typeface="Montserrat"/>
              <a:buNone/>
            </a:pPr>
            <a:endParaRPr lang="en-GB" kern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DB2B39-8168-9401-0CF2-FCDF9A038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073" y="2671113"/>
            <a:ext cx="7065818" cy="264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3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b="1" dirty="0"/>
              <a:t>K-Means Clustering</a:t>
            </a:r>
            <a:br>
              <a:rPr lang="en-GB" b="1" dirty="0"/>
            </a:br>
            <a:endParaRPr dirty="0"/>
          </a:p>
          <a:p>
            <a:endParaRPr dirty="0"/>
          </a:p>
        </p:txBody>
      </p:sp>
      <p:sp>
        <p:nvSpPr>
          <p:cNvPr id="3" name="Google Shape;119;p18">
            <a:extLst>
              <a:ext uri="{FF2B5EF4-FFF2-40B4-BE49-F238E27FC236}">
                <a16:creationId xmlns:a16="http://schemas.microsoft.com/office/drawing/2014/main" id="{1BAE6FDC-1FCC-0835-4BC6-1EE1D8533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950" y="1751516"/>
            <a:ext cx="9809055" cy="19939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0">
              <a:lnSpc>
                <a:spcPct val="150000"/>
              </a:lnSpc>
              <a:buNone/>
            </a:pPr>
            <a:endParaRPr lang="en-GB" b="0" i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GB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For many of us, if we're familiar with clustering algorithms at all, we know about k-means clustering. </a:t>
            </a:r>
            <a:r>
              <a:rPr lang="en-GB" dirty="0">
                <a:solidFill>
                  <a:srgbClr val="3B3B3B"/>
                </a:solidFill>
                <a:latin typeface="Menlo" panose="020B0609030804020204" pitchFamily="49" charset="0"/>
              </a:rPr>
              <a:t>I</a:t>
            </a:r>
            <a:r>
              <a:rPr lang="en-GB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s one of the most widely used clustering algorithms. It aims to partition the data into K clusters, </a:t>
            </a:r>
            <a:r>
              <a:rPr lang="en-GB" b="1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where K is a predefined number</a:t>
            </a:r>
            <a:r>
              <a:rPr lang="en-GB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 </a:t>
            </a:r>
          </a:p>
          <a:p>
            <a:endParaRPr lang="en-GB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pPr marL="152396" indent="0">
              <a:buNone/>
            </a:pPr>
            <a:br>
              <a:rPr lang="en-GB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endParaRPr lang="en-GB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endParaRPr lang="en-GB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indent="0">
              <a:lnSpc>
                <a:spcPct val="150000"/>
              </a:lnSpc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20F69-D22E-B601-CDD6-875477E89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99" y="4478832"/>
            <a:ext cx="11360801" cy="188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6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b="1" dirty="0"/>
              <a:t>K-Means Clustering</a:t>
            </a:r>
            <a:br>
              <a:rPr lang="en-GB" b="1" dirty="0"/>
            </a:br>
            <a:endParaRPr dirty="0"/>
          </a:p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025C14-BB64-E9DC-3541-6A06E6983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243" y="1435033"/>
            <a:ext cx="5948218" cy="4915005"/>
          </a:xfrm>
          <a:prstGeom prst="rect">
            <a:avLst/>
          </a:prstGeom>
        </p:spPr>
      </p:pic>
      <p:sp>
        <p:nvSpPr>
          <p:cNvPr id="8" name="Google Shape;119;p18">
            <a:extLst>
              <a:ext uri="{FF2B5EF4-FFF2-40B4-BE49-F238E27FC236}">
                <a16:creationId xmlns:a16="http://schemas.microsoft.com/office/drawing/2014/main" id="{6E2DA964-85BF-211E-B716-E63FF0056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435033"/>
            <a:ext cx="4987673" cy="19939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0">
              <a:lnSpc>
                <a:spcPct val="150000"/>
              </a:lnSpc>
              <a:buNone/>
            </a:pPr>
            <a:endParaRPr lang="en-GB" b="0" i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GB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It iteratively assigns data points to clusters based on the proximity to the cluster centroids and updates the centroids until convergence.</a:t>
            </a:r>
          </a:p>
          <a:p>
            <a:endParaRPr lang="en-GB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r>
              <a:rPr lang="en-GB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One of the challenges with k-means is that you need to specify a number of clusters ("k") in order to use it. </a:t>
            </a:r>
            <a:br>
              <a:rPr lang="en-GB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endParaRPr lang="en-GB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endParaRPr lang="en-GB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indent="0">
              <a:lnSpc>
                <a:spcPct val="150000"/>
              </a:lnSpc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6276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en-US" dirty="0"/>
              <a:t>Hierarchical Clustering</a:t>
            </a:r>
            <a:br>
              <a:rPr lang="en-US" dirty="0"/>
            </a:br>
            <a:endParaRPr dirty="0"/>
          </a:p>
          <a:p>
            <a:pPr>
              <a:buClr>
                <a:schemeClr val="dk2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3" name="Google Shape;119;p18">
            <a:extLst>
              <a:ext uri="{FF2B5EF4-FFF2-40B4-BE49-F238E27FC236}">
                <a16:creationId xmlns:a16="http://schemas.microsoft.com/office/drawing/2014/main" id="{F5C0B171-D267-5ED0-F504-57E9D4743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802" y="1156956"/>
            <a:ext cx="8437453" cy="19939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0">
              <a:lnSpc>
                <a:spcPct val="150000"/>
              </a:lnSpc>
              <a:buNone/>
            </a:pPr>
            <a:endParaRPr lang="en-GB" b="0" i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 approach creates a hierarchical decomposition of the data by iteratively merging or splitting clusters. It can be agglomerative (bottom-up) or divisive (top-down) in nature. The result is often visualized as a 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dendrogram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which shows the nested clusters at different levels of similarity.</a:t>
            </a:r>
            <a:endParaRPr lang="en-GB" b="0" dirty="0">
              <a:solidFill>
                <a:srgbClr val="3B3B3B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52396" indent="0">
              <a:buNone/>
            </a:pPr>
            <a:br>
              <a:rPr lang="en-GB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endParaRPr lang="en-GB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endParaRPr lang="en-GB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indent="0">
              <a:lnSpc>
                <a:spcPct val="150000"/>
              </a:lnSpc>
              <a:buNone/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804647-CD85-8562-F20C-B19095CD5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461" y="3639736"/>
            <a:ext cx="7772400" cy="302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61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en-US" dirty="0"/>
              <a:t>Hierarchical Clustering</a:t>
            </a:r>
            <a:br>
              <a:rPr lang="en-US" dirty="0"/>
            </a:br>
            <a:endParaRPr dirty="0"/>
          </a:p>
          <a:p>
            <a:pPr>
              <a:buClr>
                <a:schemeClr val="dk2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3" name="Google Shape;119;p18">
            <a:extLst>
              <a:ext uri="{FF2B5EF4-FFF2-40B4-BE49-F238E27FC236}">
                <a16:creationId xmlns:a16="http://schemas.microsoft.com/office/drawing/2014/main" id="{F5C0B171-D267-5ED0-F504-57E9D4743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802" y="1156956"/>
            <a:ext cx="8437453" cy="19939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0">
              <a:lnSpc>
                <a:spcPct val="150000"/>
              </a:lnSpc>
              <a:buNone/>
            </a:pPr>
            <a:endParaRPr lang="en-GB" b="0" i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 approach creates a hierarchical decomposition of the data by iteratively merging or splitting clusters. It can be agglomerative (bottom-up) or divisive (top-down) in nature. The result is often visualized as a 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dendrogram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which shows the nested clusters at different levels of similarity.</a:t>
            </a:r>
            <a:endParaRPr lang="en-GB" b="0" dirty="0">
              <a:solidFill>
                <a:srgbClr val="3B3B3B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52396" indent="0">
              <a:buNone/>
            </a:pPr>
            <a:br>
              <a:rPr lang="en-GB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endParaRPr lang="en-GB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endParaRPr lang="en-GB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indent="0">
              <a:lnSpc>
                <a:spcPct val="150000"/>
              </a:lnSpc>
              <a:buNone/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804647-CD85-8562-F20C-B19095CD5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461" y="3639736"/>
            <a:ext cx="7772400" cy="30288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F6E0C0-8BD4-93DD-7D83-F8B695406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434" y="3639736"/>
            <a:ext cx="12218434" cy="8160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E8E346-C412-2EF4-FF16-99A460BE9918}"/>
              </a:ext>
            </a:extLst>
          </p:cNvPr>
          <p:cNvSpPr txBox="1"/>
          <p:nvPr/>
        </p:nvSpPr>
        <p:spPr>
          <a:xfrm>
            <a:off x="651163" y="6486367"/>
            <a:ext cx="909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docs.scipy.org</a:t>
            </a:r>
            <a:r>
              <a:rPr lang="en-GB" dirty="0"/>
              <a:t>/doc/</a:t>
            </a:r>
            <a:r>
              <a:rPr lang="en-GB" dirty="0" err="1"/>
              <a:t>scipy</a:t>
            </a:r>
            <a:r>
              <a:rPr lang="en-GB" dirty="0"/>
              <a:t>/reference/generated/</a:t>
            </a:r>
            <a:r>
              <a:rPr lang="en-GB" dirty="0" err="1"/>
              <a:t>scipy.cluster.hierarchy.linkage.html</a:t>
            </a:r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169209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es-ES" dirty="0"/>
              <a:t>NCI60 </a:t>
            </a:r>
            <a:r>
              <a:rPr lang="es-ES" dirty="0" err="1"/>
              <a:t>Dataset</a:t>
            </a:r>
            <a:endParaRPr dirty="0"/>
          </a:p>
          <a:p>
            <a:pPr>
              <a:buClr>
                <a:schemeClr val="dk2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56B3F-8CA9-1680-6FF9-4F6212C09444}"/>
              </a:ext>
            </a:extLst>
          </p:cNvPr>
          <p:cNvSpPr txBox="1"/>
          <p:nvPr/>
        </p:nvSpPr>
        <p:spPr>
          <a:xfrm>
            <a:off x="651163" y="6486367"/>
            <a:ext cx="769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rdocumentation.org</a:t>
            </a:r>
            <a:r>
              <a:rPr lang="en-GB" dirty="0"/>
              <a:t>/packages/made4/versions/1.46.0/topics/NCI60</a:t>
            </a:r>
            <a:endParaRPr lang="en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4AB45D-C7D8-587C-13D2-7C62BEDC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45" y="1539414"/>
            <a:ext cx="7772400" cy="377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6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en-US" dirty="0"/>
              <a:t>DBSCAN Clustering</a:t>
            </a:r>
            <a:br>
              <a:rPr lang="en-US" dirty="0"/>
            </a:br>
            <a:endParaRPr dirty="0"/>
          </a:p>
          <a:p>
            <a:pPr>
              <a:buClr>
                <a:schemeClr val="dk2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27FEE0-62D7-FDB3-1052-7C8B16CD20D3}"/>
              </a:ext>
            </a:extLst>
          </p:cNvPr>
          <p:cNvSpPr txBox="1"/>
          <p:nvPr/>
        </p:nvSpPr>
        <p:spPr>
          <a:xfrm>
            <a:off x="651163" y="6486367"/>
            <a:ext cx="4929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cdn.aaai.org</a:t>
            </a:r>
            <a:r>
              <a:rPr lang="en-GB" dirty="0"/>
              <a:t>/KDD/1996/KDD96-037.pdf</a:t>
            </a:r>
            <a:endParaRPr lang="en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AC5E7-0DEA-5C28-5EFC-CBA32A935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010" y="393268"/>
            <a:ext cx="5413990" cy="6464732"/>
          </a:xfrm>
          <a:prstGeom prst="rect">
            <a:avLst/>
          </a:prstGeom>
        </p:spPr>
      </p:pic>
      <p:sp>
        <p:nvSpPr>
          <p:cNvPr id="7" name="Google Shape;119;p18">
            <a:extLst>
              <a:ext uri="{FF2B5EF4-FFF2-40B4-BE49-F238E27FC236}">
                <a16:creationId xmlns:a16="http://schemas.microsoft.com/office/drawing/2014/main" id="{CCA2BCEB-6E8A-064D-3817-C7D9C5958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49824" y="1385454"/>
            <a:ext cx="6656384" cy="542454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0">
              <a:lnSpc>
                <a:spcPct val="150000"/>
              </a:lnSpc>
              <a:buNone/>
            </a:pPr>
            <a:endParaRPr lang="en-GB" sz="1600" b="0" i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DBSCAN (Density-Based Spatial Clustering of Applications with Noise) group together data points that are within a dense region in the data space and separate them from sparser regions. </a:t>
            </a:r>
            <a:r>
              <a:rPr lang="en-GB" sz="1600" dirty="0">
                <a:solidFill>
                  <a:schemeClr val="bg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Only have two parameters. </a:t>
            </a:r>
          </a:p>
          <a:p>
            <a:pPr marL="152396" indent="0">
              <a:buNone/>
            </a:pPr>
            <a:endParaRPr lang="en-GB" sz="1600" dirty="0">
              <a:solidFill>
                <a:schemeClr val="bg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600" dirty="0">
                <a:solidFill>
                  <a:schemeClr val="bg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Radius (epsilon)</a:t>
            </a:r>
          </a:p>
          <a:p>
            <a:pPr indent="0">
              <a:lnSpc>
                <a:spcPct val="150000"/>
              </a:lnSpc>
              <a:buNone/>
            </a:pPr>
            <a:r>
              <a:rPr lang="en-GB" sz="1600" dirty="0">
                <a:solidFill>
                  <a:schemeClr val="bg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High: Larger clusters. Irregular.</a:t>
            </a:r>
          </a:p>
          <a:p>
            <a:pPr indent="0">
              <a:lnSpc>
                <a:spcPct val="150000"/>
              </a:lnSpc>
              <a:buNone/>
            </a:pPr>
            <a:r>
              <a:rPr lang="en-GB" sz="1600" dirty="0">
                <a:solidFill>
                  <a:schemeClr val="bg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Small: Smaller clusters, more noise 			points. Spherical</a:t>
            </a:r>
          </a:p>
          <a:p>
            <a:r>
              <a:rPr lang="en-GB" sz="1600" dirty="0">
                <a:solidFill>
                  <a:schemeClr val="bg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Num. min. points:</a:t>
            </a:r>
          </a:p>
          <a:p>
            <a:pPr indent="0">
              <a:lnSpc>
                <a:spcPct val="150000"/>
              </a:lnSpc>
              <a:buNone/>
            </a:pPr>
            <a:r>
              <a:rPr lang="en-GB" sz="1600" dirty="0">
                <a:solidFill>
                  <a:schemeClr val="bg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High: Denser clusters</a:t>
            </a:r>
          </a:p>
          <a:p>
            <a:pPr indent="0">
              <a:lnSpc>
                <a:spcPct val="150000"/>
              </a:lnSpc>
              <a:buNone/>
            </a:pPr>
            <a:r>
              <a:rPr lang="en-GB" sz="1600" dirty="0">
                <a:solidFill>
                  <a:schemeClr val="bg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Smaller: Sparser clusters</a:t>
            </a:r>
          </a:p>
          <a:p>
            <a:pPr indent="0">
              <a:lnSpc>
                <a:spcPct val="150000"/>
              </a:lnSpc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5122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CDFAEBD-C300-FC83-5F00-1A8382FCE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54" y="5086350"/>
            <a:ext cx="11268693" cy="1584660"/>
          </a:xfrm>
          <a:prstGeom prst="rect">
            <a:avLst/>
          </a:prstGeom>
        </p:spPr>
      </p:pic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en-US" dirty="0"/>
              <a:t>DBSCAN Clustering</a:t>
            </a:r>
            <a:br>
              <a:rPr lang="en-US" dirty="0"/>
            </a:br>
            <a:endParaRPr dirty="0"/>
          </a:p>
          <a:p>
            <a:pPr>
              <a:buClr>
                <a:schemeClr val="dk2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27FEE0-62D7-FDB3-1052-7C8B16CD20D3}"/>
              </a:ext>
            </a:extLst>
          </p:cNvPr>
          <p:cNvSpPr txBox="1"/>
          <p:nvPr/>
        </p:nvSpPr>
        <p:spPr>
          <a:xfrm>
            <a:off x="651163" y="6486367"/>
            <a:ext cx="4929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cdn.aaai.org</a:t>
            </a:r>
            <a:r>
              <a:rPr lang="en-GB" dirty="0"/>
              <a:t>/KDD/1996/KDD96-037.pdf</a:t>
            </a:r>
            <a:endParaRPr lang="en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65EC37-08B5-7853-F035-D8770E63B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71758"/>
            <a:ext cx="7828966" cy="3914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A5E899-A513-B0B7-D366-8C13468F8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791" y="1926517"/>
            <a:ext cx="4588070" cy="300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97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es-ES" dirty="0"/>
              <a:t>Olivetti Faces </a:t>
            </a:r>
            <a:r>
              <a:rPr lang="es-ES" dirty="0" err="1"/>
              <a:t>Dataset</a:t>
            </a:r>
            <a:endParaRPr dirty="0"/>
          </a:p>
          <a:p>
            <a:pPr>
              <a:buClr>
                <a:schemeClr val="dk2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56B3F-8CA9-1680-6FF9-4F6212C09444}"/>
              </a:ext>
            </a:extLst>
          </p:cNvPr>
          <p:cNvSpPr txBox="1"/>
          <p:nvPr/>
        </p:nvSpPr>
        <p:spPr>
          <a:xfrm>
            <a:off x="651163" y="6486367"/>
            <a:ext cx="936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https://scikit-</a:t>
            </a:r>
            <a:r>
              <a:rPr lang="en-GB" dirty="0" err="1"/>
              <a:t>learn.org</a:t>
            </a:r>
            <a:r>
              <a:rPr lang="en-GB" dirty="0"/>
              <a:t>/stable/modules/generated/</a:t>
            </a:r>
            <a:r>
              <a:rPr lang="en-GB" dirty="0" err="1"/>
              <a:t>sklearn.datasets.fetch_olivetti_faces.html</a:t>
            </a:r>
            <a:endParaRPr lang="en-E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EDA47F-70D4-A03B-A44C-79522D69B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961" y="1261518"/>
            <a:ext cx="8978900" cy="464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85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es-ES" dirty="0"/>
              <a:t>Olivetti Faces </a:t>
            </a:r>
            <a:r>
              <a:rPr lang="es-ES" dirty="0" err="1"/>
              <a:t>Dataset</a:t>
            </a:r>
            <a:endParaRPr dirty="0"/>
          </a:p>
          <a:p>
            <a:pPr>
              <a:buClr>
                <a:schemeClr val="dk2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56B3F-8CA9-1680-6FF9-4F6212C09444}"/>
              </a:ext>
            </a:extLst>
          </p:cNvPr>
          <p:cNvSpPr txBox="1"/>
          <p:nvPr/>
        </p:nvSpPr>
        <p:spPr>
          <a:xfrm>
            <a:off x="651163" y="6486367"/>
            <a:ext cx="936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https://scikit-</a:t>
            </a:r>
            <a:r>
              <a:rPr lang="en-GB" dirty="0" err="1"/>
              <a:t>learn.org</a:t>
            </a:r>
            <a:r>
              <a:rPr lang="en-GB" dirty="0"/>
              <a:t>/stable/modules/generated/</a:t>
            </a:r>
            <a:r>
              <a:rPr lang="en-GB" dirty="0" err="1"/>
              <a:t>sklearn.datasets.fetch_olivetti_faces.html</a:t>
            </a:r>
            <a:endParaRPr lang="en-E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EDA47F-70D4-A03B-A44C-79522D69B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961" y="1261518"/>
            <a:ext cx="8978900" cy="4647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FD7271-A759-8769-132D-79E443887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33548"/>
            <a:ext cx="12228585" cy="10023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6BE4625-C2AF-E71F-2E88-5449FE1EC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5045707"/>
            <a:ext cx="12228585" cy="86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35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1753461" y="6472800"/>
            <a:ext cx="438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415600" y="186967"/>
            <a:ext cx="11360800" cy="83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2"/>
              </a:buClr>
              <a:buSzPts val="1100"/>
            </a:pPr>
            <a:r>
              <a:rPr lang="es-ES" dirty="0"/>
              <a:t>Olivetti Faces </a:t>
            </a:r>
            <a:r>
              <a:rPr lang="es-ES" dirty="0" err="1"/>
              <a:t>Dataset</a:t>
            </a:r>
            <a:endParaRPr dirty="0"/>
          </a:p>
          <a:p>
            <a:pPr>
              <a:buClr>
                <a:schemeClr val="dk2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56B3F-8CA9-1680-6FF9-4F6212C09444}"/>
              </a:ext>
            </a:extLst>
          </p:cNvPr>
          <p:cNvSpPr txBox="1"/>
          <p:nvPr/>
        </p:nvSpPr>
        <p:spPr>
          <a:xfrm>
            <a:off x="651163" y="6486367"/>
            <a:ext cx="936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https://scikit-</a:t>
            </a:r>
            <a:r>
              <a:rPr lang="en-GB" dirty="0" err="1"/>
              <a:t>learn.org</a:t>
            </a:r>
            <a:r>
              <a:rPr lang="en-GB" dirty="0"/>
              <a:t>/stable/modules/generated/</a:t>
            </a:r>
            <a:r>
              <a:rPr lang="en-GB" dirty="0" err="1"/>
              <a:t>sklearn.datasets.fetch_olivetti_faces.html</a:t>
            </a:r>
            <a:endParaRPr lang="en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E6F25-663F-CEA3-A771-934D41AEB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713" y="1497567"/>
            <a:ext cx="3581978" cy="4613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B9ADC4-2686-C8DC-8A73-30E2CF296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146" y="1393529"/>
            <a:ext cx="5152460" cy="241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18D8DB-4D40-E43C-3884-CD01E1DF8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902" y="4098474"/>
            <a:ext cx="4950704" cy="209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69996"/>
      </p:ext>
    </p:extLst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18619</TotalTime>
  <Words>539</Words>
  <Application>Microsoft Office PowerPoint</Application>
  <PresentationFormat>Pantalla panoràmica</PresentationFormat>
  <Paragraphs>60</Paragraphs>
  <Slides>13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Títols de les diapositives</vt:lpstr>
      </vt:variant>
      <vt:variant>
        <vt:i4>13</vt:i4>
      </vt:variant>
    </vt:vector>
  </HeadingPairs>
  <TitlesOfParts>
    <vt:vector size="14" baseType="lpstr">
      <vt:lpstr>Plum</vt:lpstr>
      <vt:lpstr>GIA - IAA Introducció a  l’Aprenentatge Automàtic</vt:lpstr>
      <vt:lpstr>Clustering vs Classification  </vt:lpstr>
      <vt:lpstr>Clustering  </vt:lpstr>
      <vt:lpstr>K-Means Clustering  </vt:lpstr>
      <vt:lpstr>K-Means Clustering  </vt:lpstr>
      <vt:lpstr>Hierarchical Clustering   </vt:lpstr>
      <vt:lpstr>Hierarchical Clustering   </vt:lpstr>
      <vt:lpstr>NCI60 Dataset  </vt:lpstr>
      <vt:lpstr>DBSCAN Clustering   </vt:lpstr>
      <vt:lpstr>DBSCAN Clustering   </vt:lpstr>
      <vt:lpstr>Olivetti Faces Dataset  </vt:lpstr>
      <vt:lpstr>Olivetti Faces Dataset  </vt:lpstr>
      <vt:lpstr>Olivetti Faces Dataset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GIA - IAA Introduction to Machine Learning</dc:title>
  <dc:creator>JORDI LUQUE SERRANO</dc:creator>
  <cp:lastModifiedBy>JORDI LUQUE SERRANO</cp:lastModifiedBy>
  <cp:revision>174</cp:revision>
  <dcterms:created xsi:type="dcterms:W3CDTF">2023-09-01T22:17:19Z</dcterms:created>
  <dcterms:modified xsi:type="dcterms:W3CDTF">2024-11-18T06:45:18Z</dcterms:modified>
</cp:coreProperties>
</file>